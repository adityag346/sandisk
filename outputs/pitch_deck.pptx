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die-yield-prediction.streamlit.app/" TargetMode="External"/><Relationship Id="rId3" Type="http://schemas.openxmlformats.org/officeDocument/2006/relationships/hyperlink" Target="https://github.com/AdityaG346/Sandisk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solidFill>
              <a:srgbClr val="0B11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051560"/>
            <a:ext cx="10362895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100" b="1">
                <a:solidFill>
                  <a:srgbClr val="38BDF8"/>
                </a:solidFill>
                <a:latin typeface="Calibri"/>
              </a:rPr>
              <a:t>SANDISK CEREBRUM 2026 | FINAL COMPETITION PITCH</a:t>
            </a:r>
          </a:p>
          <a:p>
            <a:pPr>
              <a:spcAft>
                <a:spcPts val="800"/>
              </a:spcAft>
            </a:pPr>
            <a:r>
              <a:rPr sz="4000" b="1">
                <a:solidFill>
                  <a:srgbClr val="F8FAFC"/>
                </a:solidFill>
                <a:latin typeface="Calibri"/>
              </a:rPr>
              <a:t>Die Yield Prediction</a:t>
            </a:r>
          </a:p>
          <a:p>
            <a:pPr>
              <a:spcAft>
                <a:spcPts val="1400"/>
              </a:spcAft>
            </a:pPr>
            <a:r>
              <a:rPr sz="1700">
                <a:solidFill>
                  <a:srgbClr val="94A3B8"/>
                </a:solidFill>
                <a:latin typeface="Calibri"/>
              </a:rPr>
              <a:t>Pre-Screening Post-Burn-In Silicon Failures via Spatial Risk Fields &amp; Sub-Die Diagnostics</a:t>
            </a:r>
          </a:p>
          <a:p>
            <a:r>
              <a:rPr sz="1300" b="1">
                <a:solidFill>
                  <a:srgbClr val="F59E0B"/>
                </a:solidFill>
                <a:latin typeface="Calibri"/>
              </a:rPr>
              <a:t>Team: </a:t>
            </a:r>
            <a:r>
              <a:rPr sz="1300" b="1">
                <a:solidFill>
                  <a:srgbClr val="F8FAFC"/>
                </a:solidFill>
                <a:latin typeface="Calibri"/>
              </a:rPr>
              <a:t>Cookies of the Dark Web  </a:t>
            </a:r>
            <a:r>
              <a:rPr sz="1300">
                <a:solidFill>
                  <a:srgbClr val="CBD5E1"/>
                </a:solidFill>
                <a:latin typeface="Calibri"/>
              </a:rPr>
              <a:t>(Shrey Sharma, Aditya Gupta, Prisha Kushwaha, Darsh Ramoliya)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3977639"/>
            <a:ext cx="2450592" cy="214884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164592" rIns="164592" bIns="164592"/>
          <a:lstStyle/>
          <a:p>
            <a:pPr algn="ctr">
              <a:spcAft>
                <a:spcPts val="400"/>
              </a:spcAft>
            </a:pPr>
            <a:r>
              <a:rPr sz="850" b="1">
                <a:solidFill>
                  <a:srgbClr val="38BDF8"/>
                </a:solidFill>
                <a:latin typeface="Calibri"/>
              </a:rPr>
              <a:t>INNOVATION &amp; ARCHITECTURE</a:t>
            </a:r>
          </a:p>
          <a:p>
            <a:pPr>
              <a:spcAft>
                <a:spcPts val="600"/>
              </a:spcAft>
            </a:pPr>
            <a:r>
              <a:rPr sz="1200" b="1">
                <a:solidFill>
                  <a:srgbClr val="F8FAFC"/>
                </a:solidFill>
                <a:latin typeface="Calibri"/>
              </a:rPr>
              <a:t>Multi-Resolution Ranking</a:t>
            </a:r>
          </a:p>
          <a:p>
            <a:r>
              <a:rPr sz="950">
                <a:solidFill>
                  <a:srgbClr val="CBD5E1"/>
                </a:solidFill>
                <a:latin typeface="Calibri"/>
              </a:rPr>
              <a:t>Continuous 2D spatial hazard surfaces (sigma=1.5) combined with 2,000-reading sub-die block telemetry to detect micro-structural anomalies.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547872" y="3977639"/>
            <a:ext cx="2450592" cy="214884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164592" rIns="164592" bIns="164592"/>
          <a:lstStyle/>
          <a:p>
            <a:pPr algn="ctr">
              <a:spcAft>
                <a:spcPts val="400"/>
              </a:spcAft>
            </a:pPr>
            <a:r>
              <a:rPr sz="850" b="1">
                <a:solidFill>
                  <a:srgbClr val="38BDF8"/>
                </a:solidFill>
                <a:latin typeface="Calibri"/>
              </a:rPr>
              <a:t>TECHNICAL RIGOR</a:t>
            </a:r>
          </a:p>
          <a:p>
            <a:pPr>
              <a:spcAft>
                <a:spcPts val="600"/>
              </a:spcAft>
            </a:pPr>
            <a:r>
              <a:rPr sz="1200" b="1">
                <a:solidFill>
                  <a:srgbClr val="F8FAFC"/>
                </a:solidFill>
                <a:latin typeface="Calibri"/>
              </a:rPr>
              <a:t>Rigorous Statistical Auditing</a:t>
            </a:r>
          </a:p>
          <a:p>
            <a:r>
              <a:rPr sz="950">
                <a:solidFill>
                  <a:srgbClr val="CBD5E1"/>
                </a:solidFill>
                <a:latin typeface="Calibri"/>
              </a:rPr>
              <a:t>Multi-seed paired ablation and wafer-cluster bootstrap prove ranking gain (+0.0337 PR-AUC, p &lt; 0.001) while F1 is within noise.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81344" y="3977639"/>
            <a:ext cx="2450592" cy="214884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164592" rIns="164592" bIns="164592"/>
          <a:lstStyle/>
          <a:p>
            <a:pPr algn="ctr">
              <a:spcAft>
                <a:spcPts val="400"/>
              </a:spcAft>
            </a:pPr>
            <a:r>
              <a:rPr sz="850" b="1">
                <a:solidFill>
                  <a:srgbClr val="38BDF8"/>
                </a:solidFill>
                <a:latin typeface="Calibri"/>
              </a:rPr>
              <a:t>EXPLAINABILITY &amp; UX</a:t>
            </a:r>
          </a:p>
          <a:p>
            <a:pPr>
              <a:spcAft>
                <a:spcPts val="600"/>
              </a:spcAft>
            </a:pPr>
            <a:r>
              <a:rPr sz="1200" b="1">
                <a:solidFill>
                  <a:srgbClr val="F8FAFC"/>
                </a:solidFill>
                <a:latin typeface="Calibri"/>
              </a:rPr>
              <a:t>Hierarchical Interpretability</a:t>
            </a:r>
          </a:p>
          <a:p>
            <a:r>
              <a:rPr sz="950">
                <a:solidFill>
                  <a:srgbClr val="CBD5E1"/>
                </a:solidFill>
                <a:latin typeface="Calibri"/>
              </a:rPr>
              <a:t>Wafer maps -&gt; Die inspection -&gt; TreeSHAP attributions -&gt; Sub-die block profiles (separating spatial context from actionable signal).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814816" y="3977639"/>
            <a:ext cx="2450592" cy="214884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164592" rIns="164592" bIns="164592"/>
          <a:lstStyle/>
          <a:p>
            <a:pPr algn="ctr">
              <a:spcAft>
                <a:spcPts val="400"/>
              </a:spcAft>
            </a:pPr>
            <a:r>
              <a:rPr sz="850" b="1">
                <a:solidFill>
                  <a:srgbClr val="38BDF8"/>
                </a:solidFill>
                <a:latin typeface="Calibri"/>
              </a:rPr>
              <a:t>OPERATIONAL VALUE</a:t>
            </a:r>
          </a:p>
          <a:p>
            <a:pPr>
              <a:spcAft>
                <a:spcPts val="600"/>
              </a:spcAft>
            </a:pPr>
            <a:r>
              <a:rPr sz="1200" b="1">
                <a:solidFill>
                  <a:srgbClr val="F8FAFC"/>
                </a:solidFill>
                <a:latin typeface="Calibri"/>
              </a:rPr>
              <a:t>Screening Triage &amp; Reliability</a:t>
            </a:r>
          </a:p>
          <a:p>
            <a:r>
              <a:rPr sz="950">
                <a:solidFill>
                  <a:srgbClr val="CBD5E1"/>
                </a:solidFill>
                <a:latin typeface="Calibri"/>
              </a:rPr>
              <a:t>+64 failures captured at 10% budget; validation-only Platt scaling cuts calibration error by over 70% with zero test leakage.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solidFill>
              <a:srgbClr val="0B11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000" b="1">
                <a:solidFill>
                  <a:srgbClr val="38BDF8"/>
                </a:solidFill>
                <a:latin typeface="Calibri"/>
              </a:rPr>
              <a:t>PROBLEM &amp; APPROACH</a:t>
            </a:r>
          </a:p>
          <a:p>
            <a:pPr>
              <a:spcAft>
                <a:spcPts val="200"/>
              </a:spcAft>
            </a:pPr>
            <a:r>
              <a:rPr sz="2200" b="1">
                <a:solidFill>
                  <a:srgbClr val="F8FAFC"/>
                </a:solidFill>
                <a:latin typeface="Calibri"/>
              </a:rPr>
              <a:t>The Die Yield Task: Macro Spatial Context vs. Micro Sub-Die Signals</a:t>
            </a:r>
          </a:p>
          <a:p>
            <a:r>
              <a:rPr sz="1200">
                <a:solidFill>
                  <a:srgbClr val="94A3B8"/>
                </a:solidFill>
                <a:latin typeface="Calibri"/>
              </a:rPr>
              <a:t>Predicting the 4.23% post-burn-in defects early without over-scrapping healthy silicon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328416" cy="466344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28600" rIns="228600" bIns="228600"/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59E0B"/>
                </a:solidFill>
                <a:latin typeface="Calibri"/>
              </a:rPr>
              <a:t>1. THE FACTORY CHALLENGE</a:t>
            </a:r>
          </a:p>
          <a:p>
            <a:pPr>
              <a:spcAft>
                <a:spcPts val="1200"/>
              </a:spcAft>
            </a:pPr>
            <a:r>
              <a:rPr sz="1500" b="1">
                <a:solidFill>
                  <a:srgbClr val="F8FAFC"/>
                </a:solidFill>
                <a:latin typeface="Calibri"/>
              </a:rPr>
              <a:t>Post-Burn-In Defect Prediction</a:t>
            </a:r>
          </a:p>
          <a:p>
            <a:pPr>
              <a:spcAft>
                <a:spcPts val="800"/>
              </a:spcAft>
            </a:pPr>
            <a:r>
              <a:rPr b="1" sz="1000">
                <a:solidFill>
                  <a:srgbClr val="38BDF8"/>
                </a:solidFill>
                <a:latin typeface="Calibri"/>
              </a:rPr>
              <a:t>Silicon Wafer Scale: </a:t>
            </a:r>
            <a:r>
              <a:rPr sz="950">
                <a:solidFill>
                  <a:srgbClr val="CBD5E1"/>
                </a:solidFill>
                <a:latin typeface="Calibri"/>
              </a:rPr>
              <a:t>Silicon chips (dies) are tested before packaging. Post-burn-in testing is slow and factory-constrained; failures are spatially clustered.</a:t>
            </a:r>
          </a:p>
          <a:p>
            <a:pPr>
              <a:spcAft>
                <a:spcPts val="800"/>
              </a:spcAft>
            </a:pPr>
            <a:r>
              <a:rPr b="1" sz="1000">
                <a:solidFill>
                  <a:srgbClr val="38BDF8"/>
                </a:solidFill>
                <a:latin typeface="Calibri"/>
              </a:rPr>
              <a:t>Pre-Test Exclusions: </a:t>
            </a:r>
            <a:r>
              <a:rPr sz="950">
                <a:solidFill>
                  <a:srgbClr val="CBD5E1"/>
                </a:solidFill>
                <a:latin typeface="Calibri"/>
              </a:rPr>
              <a:t>Known defective chips (old_label=1; 6,753 dies on test set) are already dead and excluded per competition evaluation rule.</a:t>
            </a:r>
          </a:p>
          <a:p>
            <a:pPr>
              <a:spcAft>
                <a:spcPts val="800"/>
              </a:spcAft>
            </a:pPr>
            <a:r>
              <a:rPr b="1" sz="1000">
                <a:solidFill>
                  <a:srgbClr val="38BDF8"/>
                </a:solidFill>
                <a:latin typeface="Calibri"/>
              </a:rPr>
              <a:t>The True Target (Eligible Dies): </a:t>
            </a:r>
            <a:r>
              <a:rPr sz="950">
                <a:solidFill>
                  <a:srgbClr val="CBD5E1"/>
                </a:solidFill>
                <a:latin typeface="Calibri"/>
              </a:rPr>
              <a:t>Exactly 32,598 eligible dies (old_label=0) on holdout test set with a true post-test defect rate of 4.23% (1,380 fails).</a:t>
            </a:r>
          </a:p>
          <a:p>
            <a:pPr>
              <a:spcAft>
                <a:spcPts val="800"/>
              </a:spcAft>
            </a:pPr>
            <a:r>
              <a:rPr b="1" sz="1000">
                <a:solidFill>
                  <a:srgbClr val="38BDF8"/>
                </a:solidFill>
                <a:latin typeface="Calibri"/>
              </a:rPr>
              <a:t>Core Scientific Question: </a:t>
            </a:r>
            <a:r>
              <a:rPr sz="950">
                <a:solidFill>
                  <a:srgbClr val="CBD5E1"/>
                </a:solidFill>
                <a:latin typeface="Calibri"/>
              </a:rPr>
              <a:t>Does adding sub-die block telemetry improve risk ranking and screening efficiency beyond macro spatial context?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425696" y="1645920"/>
            <a:ext cx="3328416" cy="466344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28600" rIns="228600" bIns="228600"/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38BDF8"/>
                </a:solidFill>
                <a:latin typeface="Calibri"/>
              </a:rPr>
              <a:t>2. MODEL A (MACRO + SPATIAL)</a:t>
            </a:r>
          </a:p>
          <a:p>
            <a:pPr>
              <a:spcAft>
                <a:spcPts val="1200"/>
              </a:spcAft>
            </a:pPr>
            <a:r>
              <a:rPr sz="1500" b="1">
                <a:solidFill>
                  <a:srgbClr val="F8FAFC"/>
                </a:solidFill>
                <a:latin typeface="Calibri"/>
              </a:rPr>
              <a:t>511 Leakage-Free Features</a:t>
            </a:r>
          </a:p>
          <a:p>
            <a:pPr>
              <a:spcAft>
                <a:spcPts val="800"/>
              </a:spcAft>
            </a:pPr>
            <a:r>
              <a:rPr b="1" sz="1000">
                <a:solidFill>
                  <a:srgbClr val="38BDF8"/>
                </a:solidFill>
                <a:latin typeface="Calibri"/>
              </a:rPr>
              <a:t>500 Parametric Sensors: </a:t>
            </a:r>
            <a:r>
              <a:rPr sz="950">
                <a:solidFill>
                  <a:srgbClr val="CBD5E1"/>
                </a:solidFill>
                <a:latin typeface="Calibri"/>
              </a:rPr>
              <a:t>Full-die electrical measurements from automated test equipment probe cards.</a:t>
            </a:r>
          </a:p>
          <a:p>
            <a:pPr>
              <a:spcAft>
                <a:spcPts val="800"/>
              </a:spcAft>
            </a:pPr>
            <a:r>
              <a:rPr b="1" sz="1000">
                <a:solidFill>
                  <a:srgbClr val="38BDF8"/>
                </a:solidFill>
                <a:latin typeface="Calibri"/>
              </a:rPr>
              <a:t>10 Spatial Features: </a:t>
            </a:r>
            <a:r>
              <a:rPr sz="950">
                <a:solidFill>
                  <a:srgbClr val="CBD5E1"/>
                </a:solidFill>
                <a:latin typeface="Calibri"/>
              </a:rPr>
              <a:t>Leakage-free wafer geography: distance to nearest pre-test fail (sp_dist_to_fail), edge proximity, and multi-radius fail counts.</a:t>
            </a:r>
          </a:p>
          <a:p>
            <a:pPr>
              <a:spcAft>
                <a:spcPts val="800"/>
              </a:spcAft>
            </a:pPr>
            <a:r>
              <a:rPr b="1" sz="1000">
                <a:solidFill>
                  <a:srgbClr val="38BDF8"/>
                </a:solidFill>
                <a:latin typeface="Calibri"/>
              </a:rPr>
              <a:t>1 Die Anomaly Score: </a:t>
            </a:r>
            <a:r>
              <a:rPr sz="950">
                <a:solidFill>
                  <a:srgbClr val="CBD5E1"/>
                </a:solidFill>
                <a:latin typeface="Calibri"/>
              </a:rPr>
              <a:t>Isolation Forest fitted strictly on healthy chips to capture multivariate out-of-distribution drift.</a:t>
            </a:r>
          </a:p>
          <a:p>
            <a:pPr>
              <a:spcAft>
                <a:spcPts val="800"/>
              </a:spcAft>
            </a:pPr>
            <a:r>
              <a:rPr b="1" sz="1000">
                <a:solidFill>
                  <a:srgbClr val="38BDF8"/>
                </a:solidFill>
                <a:latin typeface="Calibri"/>
              </a:rPr>
              <a:t>Algorithm &amp; Threshold: </a:t>
            </a:r>
            <a:r>
              <a:rPr sz="950">
                <a:solidFill>
                  <a:srgbClr val="CBD5E1"/>
                </a:solidFill>
                <a:latin typeface="Calibri"/>
              </a:rPr>
              <a:t>LightGBM Classifier (num_leaves=63, scale_pos_weight=12.0), independently tuned threshold = 0.5574.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119872" y="1645920"/>
            <a:ext cx="3328416" cy="466344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28600" rIns="228600" bIns="228600"/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22C55E"/>
                </a:solidFill>
                <a:latin typeface="Calibri"/>
              </a:rPr>
              <a:t>3. MODEL B (DEEP SUB-DIE TELEMETRY)</a:t>
            </a:r>
          </a:p>
          <a:p>
            <a:pPr>
              <a:spcAft>
                <a:spcPts val="1200"/>
              </a:spcAft>
            </a:pPr>
            <a:r>
              <a:rPr sz="1500" b="1">
                <a:solidFill>
                  <a:srgbClr val="F8FAFC"/>
                </a:solidFill>
                <a:latin typeface="Calibri"/>
              </a:rPr>
              <a:t>531 Features (Model A + Blocks)</a:t>
            </a:r>
          </a:p>
          <a:p>
            <a:pPr>
              <a:spcAft>
                <a:spcPts val="800"/>
              </a:spcAft>
            </a:pPr>
            <a:r>
              <a:rPr b="1" sz="1000">
                <a:solidFill>
                  <a:srgbClr val="22C55E"/>
                </a:solidFill>
                <a:latin typeface="Calibri"/>
              </a:rPr>
              <a:t>Full Model A Inheritance: </a:t>
            </a:r>
            <a:r>
              <a:rPr sz="950">
                <a:solidFill>
                  <a:srgbClr val="CBD5E1"/>
                </a:solidFill>
                <a:latin typeface="Calibri"/>
              </a:rPr>
              <a:t>All 511 macro electrical, spatial neighborhood, and die anomaly features.</a:t>
            </a:r>
          </a:p>
          <a:p>
            <a:pPr>
              <a:spcAft>
                <a:spcPts val="800"/>
              </a:spcAft>
            </a:pPr>
            <a:r>
              <a:rPr b="1" sz="1000">
                <a:solidFill>
                  <a:srgbClr val="22C55E"/>
                </a:solidFill>
                <a:latin typeface="Calibri"/>
              </a:rPr>
              <a:t>8 Block Summary Stats: </a:t>
            </a:r>
            <a:r>
              <a:rPr sz="950">
                <a:solidFill>
                  <a:srgbClr val="CBD5E1"/>
                </a:solidFill>
                <a:latin typeface="Calibri"/>
              </a:rPr>
              <a:t>Aggregations over 2,000 sub-die block readings per chip: blk_mean, blk_std, blk_q25, blk_q75, etc.</a:t>
            </a:r>
          </a:p>
          <a:p>
            <a:pPr>
              <a:spcAft>
                <a:spcPts val="800"/>
              </a:spcAft>
            </a:pPr>
            <a:r>
              <a:rPr b="1" sz="1000">
                <a:solidFill>
                  <a:srgbClr val="22C55E"/>
                </a:solidFill>
                <a:latin typeface="Calibri"/>
              </a:rPr>
              <a:t>1 Block Anomaly Score: </a:t>
            </a:r>
            <a:r>
              <a:rPr sz="950">
                <a:solidFill>
                  <a:srgbClr val="CBD5E1"/>
                </a:solidFill>
                <a:latin typeface="Calibri"/>
              </a:rPr>
              <a:t>Robust MAD-based anomaly detector measuring localized sub-die variance shifts (|x - median| &gt; 2*MAD).</a:t>
            </a:r>
          </a:p>
          <a:p>
            <a:pPr>
              <a:spcAft>
                <a:spcPts val="800"/>
              </a:spcAft>
            </a:pPr>
            <a:r>
              <a:rPr b="1" sz="1000">
                <a:solidFill>
                  <a:srgbClr val="22C55E"/>
                </a:solidFill>
                <a:latin typeface="Calibri"/>
              </a:rPr>
              <a:t>11 Sub-Die Telemetry Features: </a:t>
            </a:r>
            <a:r>
              <a:rPr sz="950">
                <a:solidFill>
                  <a:srgbClr val="CBD5E1"/>
                </a:solidFill>
                <a:latin typeface="Calibri"/>
              </a:rPr>
              <a:t>Extended block variance percentiles; LightGBM threshold = 0.5180 with permanent index alignment.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solidFill>
              <a:srgbClr val="0B11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000" b="1">
                <a:solidFill>
                  <a:srgbClr val="38BDF8"/>
                </a:solidFill>
                <a:latin typeface="Calibri"/>
              </a:rPr>
              <a:t>BENCHMARK RESULTS &amp; RIGOROUS AUDITING</a:t>
            </a:r>
          </a:p>
          <a:p>
            <a:pPr>
              <a:spcAft>
                <a:spcPts val="200"/>
              </a:spcAft>
            </a:pPr>
            <a:r>
              <a:rPr sz="2200" b="1">
                <a:solidFill>
                  <a:srgbClr val="F8FAFC"/>
                </a:solidFill>
                <a:latin typeface="Calibri"/>
              </a:rPr>
              <a:t>Production Results: PR-AUC Gain is Statistically Real; F1 Gain is Within Noise</a:t>
            </a:r>
          </a:p>
          <a:p>
            <a:r>
              <a:rPr sz="1200">
                <a:solidFill>
                  <a:srgbClr val="94A3B8"/>
                </a:solidFill>
                <a:latin typeface="Calibri"/>
              </a:rPr>
              <a:t>5-seed paired ablation and 1,000-iteration bootstrap prove the continuous ranking power of block signals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645920"/>
          <a:ext cx="731520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188720"/>
                <a:gridCol w="1280160"/>
                <a:gridCol w="1280160"/>
                <a:gridCol w="1737360"/>
              </a:tblGrid>
              <a:tr h="48768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38BDF8"/>
                          </a:solidFill>
                          <a:latin typeface="Calibri"/>
                        </a:rPr>
                        <a:t>Metric (Eligible Dies)</a:t>
                      </a:r>
                    </a:p>
                  </a:txBody>
                  <a:tcPr marL="73152" marR="73152" marT="45720" marB="45720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38BDF8"/>
                          </a:solidFill>
                          <a:latin typeface="Calibri"/>
                        </a:rPr>
                        <a:t>Model A (511)</a:t>
                      </a:r>
                    </a:p>
                  </a:txBody>
                  <a:tcPr marL="73152" marR="73152" marT="45720" marB="45720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38BDF8"/>
                          </a:solidFill>
                          <a:latin typeface="Calibri"/>
                        </a:rPr>
                        <a:t>Model B (531)</a:t>
                      </a:r>
                    </a:p>
                  </a:txBody>
                  <a:tcPr marL="73152" marR="73152" marT="45720" marB="45720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38BDF8"/>
                          </a:solidFill>
                          <a:latin typeface="Calibri"/>
                        </a:rPr>
                        <a:t>Delta (B - A)</a:t>
                      </a:r>
                    </a:p>
                  </a:txBody>
                  <a:tcPr marL="73152" marR="73152" marT="45720" marB="45720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38BDF8"/>
                          </a:solidFill>
                          <a:latin typeface="Calibri"/>
                        </a:rPr>
                        <a:t>Statistical Test (5-Seed / Bootstrap)</a:t>
                      </a:r>
                    </a:p>
                  </a:txBody>
                  <a:tcPr marL="73152" marR="73152" marT="45720" marB="45720">
                    <a:solidFill>
                      <a:srgbClr val="0F172A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F8FAFC"/>
                          </a:solidFill>
                          <a:latin typeface="Calibri"/>
                        </a:rPr>
                        <a:t>PR-AUC (Secondary)</a:t>
                      </a:r>
                    </a:p>
                  </a:txBody>
                  <a:tcPr marL="73152" marR="73152" marT="45720" marB="45720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CBD5E1"/>
                          </a:solidFill>
                          <a:latin typeface="Calibri"/>
                        </a:rPr>
                        <a:t>0.5025</a:t>
                      </a:r>
                    </a:p>
                  </a:txBody>
                  <a:tcPr marL="73152" marR="73152" marT="45720" marB="45720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CBD5E1"/>
                          </a:solidFill>
                          <a:latin typeface="Calibri"/>
                        </a:rPr>
                        <a:t>0.5362</a:t>
                      </a:r>
                    </a:p>
                  </a:txBody>
                  <a:tcPr marL="73152" marR="73152" marT="45720" marB="45720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22C55E"/>
                          </a:solidFill>
                          <a:latin typeface="Calibri"/>
                        </a:rPr>
                        <a:t>+0.0337 (+6.7%)</a:t>
                      </a:r>
                    </a:p>
                  </a:txBody>
                  <a:tcPr marL="73152" marR="73152" marT="45720" marB="45720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22C55E"/>
                          </a:solidFill>
                          <a:latin typeface="Calibri"/>
                        </a:rPr>
                        <a:t>p = 1.33e-5 (Statistically Real, CI [+0.023, +0.043] &gt; 0)</a:t>
                      </a:r>
                    </a:p>
                  </a:txBody>
                  <a:tcPr marL="73152" marR="73152" marT="45720" marB="45720">
                    <a:solidFill>
                      <a:srgbClr val="1E293B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F8FAFC"/>
                          </a:solidFill>
                          <a:latin typeface="Calibri"/>
                        </a:rPr>
                        <a:t>Fail F1 Score (Primary)</a:t>
                      </a:r>
                    </a:p>
                  </a:txBody>
                  <a:tcPr marL="73152" marR="73152" marT="45720" marB="45720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CBD5E1"/>
                          </a:solidFill>
                          <a:latin typeface="Calibri"/>
                        </a:rPr>
                        <a:t>0.5207</a:t>
                      </a:r>
                    </a:p>
                  </a:txBody>
                  <a:tcPr marL="73152" marR="73152" marT="45720" marB="45720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CBD5E1"/>
                          </a:solidFill>
                          <a:latin typeface="Calibri"/>
                        </a:rPr>
                        <a:t>0.5222</a:t>
                      </a:r>
                    </a:p>
                  </a:txBody>
                  <a:tcPr marL="73152" marR="73152" marT="45720" marB="45720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22C55E"/>
                          </a:solidFill>
                          <a:latin typeface="Calibri"/>
                        </a:rPr>
                        <a:t>+0.0015 (+0.3%)</a:t>
                      </a:r>
                    </a:p>
                  </a:txBody>
                  <a:tcPr marL="73152" marR="73152" marT="45720" marB="45720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59E0B"/>
                          </a:solidFill>
                          <a:latin typeface="Calibri"/>
                        </a:rPr>
                        <a:t>p = 0.1081 (Within Noise, CI [-0.008, +0.012] crosses 0)</a:t>
                      </a:r>
                    </a:p>
                  </a:txBody>
                  <a:tcPr marL="73152" marR="73152" marT="45720" marB="45720">
                    <a:solidFill>
                      <a:srgbClr val="1E293B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F8FAFC"/>
                          </a:solidFill>
                          <a:latin typeface="Calibri"/>
                        </a:rPr>
                        <a:t>Fail Recall</a:t>
                      </a:r>
                    </a:p>
                  </a:txBody>
                  <a:tcPr marL="73152" marR="73152" marT="45720" marB="45720">
                    <a:solidFill>
                      <a:srgbClr val="18212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CBD5E1"/>
                          </a:solidFill>
                          <a:latin typeface="Calibri"/>
                        </a:rPr>
                        <a:t>35.58% (491/1380)</a:t>
                      </a:r>
                    </a:p>
                  </a:txBody>
                  <a:tcPr marL="73152" marR="73152" marT="45720" marB="45720">
                    <a:solidFill>
                      <a:srgbClr val="18212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CBD5E1"/>
                          </a:solidFill>
                          <a:latin typeface="Calibri"/>
                        </a:rPr>
                        <a:t>37.10% (512/1380)</a:t>
                      </a:r>
                    </a:p>
                  </a:txBody>
                  <a:tcPr marL="73152" marR="73152" marT="45720" marB="45720">
                    <a:solidFill>
                      <a:srgbClr val="18212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22C55E"/>
                          </a:solidFill>
                          <a:latin typeface="Calibri"/>
                        </a:rPr>
                        <a:t>+1.52% (+21 dies)</a:t>
                      </a:r>
                    </a:p>
                  </a:txBody>
                  <a:tcPr marL="73152" marR="73152" marT="45720" marB="45720">
                    <a:solidFill>
                      <a:srgbClr val="18212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CBD5E1"/>
                          </a:solidFill>
                          <a:latin typeface="Calibri"/>
                        </a:rPr>
                        <a:t>p = 0.0090 (Statistically Significant)</a:t>
                      </a:r>
                    </a:p>
                  </a:txBody>
                  <a:tcPr marL="73152" marR="73152" marT="45720" marB="45720">
                    <a:solidFill>
                      <a:srgbClr val="18212F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F8FAFC"/>
                          </a:solidFill>
                          <a:latin typeface="Calibri"/>
                        </a:rPr>
                        <a:t>Fail Precision</a:t>
                      </a:r>
                    </a:p>
                  </a:txBody>
                  <a:tcPr marL="73152" marR="73152" marT="45720" marB="45720">
                    <a:solidFill>
                      <a:srgbClr val="18212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CBD5E1"/>
                          </a:solidFill>
                          <a:latin typeface="Calibri"/>
                        </a:rPr>
                        <a:t>97.04% (491/506)</a:t>
                      </a:r>
                    </a:p>
                  </a:txBody>
                  <a:tcPr marL="73152" marR="73152" marT="45720" marB="45720">
                    <a:solidFill>
                      <a:srgbClr val="18212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CBD5E1"/>
                          </a:solidFill>
                          <a:latin typeface="Calibri"/>
                        </a:rPr>
                        <a:t>88.12% (512/581)</a:t>
                      </a:r>
                    </a:p>
                  </a:txBody>
                  <a:tcPr marL="73152" marR="73152" marT="45720" marB="45720">
                    <a:solidFill>
                      <a:srgbClr val="18212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59E0B"/>
                          </a:solidFill>
                          <a:latin typeface="Calibri"/>
                        </a:rPr>
                        <a:t>-8.92% (69 FP)</a:t>
                      </a:r>
                    </a:p>
                  </a:txBody>
                  <a:tcPr marL="73152" marR="73152" marT="45720" marB="45720">
                    <a:solidFill>
                      <a:srgbClr val="18212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CBD5E1"/>
                          </a:solidFill>
                          <a:latin typeface="Calibri"/>
                        </a:rPr>
                        <a:t>Controlled Fab Scrap (&lt;0.22% False Alarm Rate)</a:t>
                      </a:r>
                    </a:p>
                  </a:txBody>
                  <a:tcPr marL="73152" marR="73152" marT="45720" marB="45720">
                    <a:solidFill>
                      <a:srgbClr val="18212F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F8FAFC"/>
                          </a:solidFill>
                          <a:latin typeface="Calibri"/>
                        </a:rPr>
                        <a:t>Top-10% Triage Capture</a:t>
                      </a:r>
                    </a:p>
                  </a:txBody>
                  <a:tcPr marL="73152" marR="73152" marT="45720" marB="45720">
                    <a:solidFill>
                      <a:srgbClr val="18212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CBD5E1"/>
                          </a:solidFill>
                          <a:latin typeface="Calibri"/>
                        </a:rPr>
                        <a:t>55.7% (768 fails)</a:t>
                      </a:r>
                    </a:p>
                  </a:txBody>
                  <a:tcPr marL="73152" marR="73152" marT="45720" marB="45720">
                    <a:solidFill>
                      <a:srgbClr val="18212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CBD5E1"/>
                          </a:solidFill>
                          <a:latin typeface="Calibri"/>
                        </a:rPr>
                        <a:t>60.4% (834 fails)</a:t>
                      </a:r>
                    </a:p>
                  </a:txBody>
                  <a:tcPr marL="73152" marR="73152" marT="45720" marB="45720">
                    <a:solidFill>
                      <a:srgbClr val="18212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22C55E"/>
                          </a:solidFill>
                          <a:latin typeface="Calibri"/>
                        </a:rPr>
                        <a:t>+4.8% (+66 fails)</a:t>
                      </a:r>
                    </a:p>
                  </a:txBody>
                  <a:tcPr marL="73152" marR="73152" marT="45720" marB="45720">
                    <a:solidFill>
                      <a:srgbClr val="18212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CBD5E1"/>
                          </a:solidFill>
                          <a:latin typeface="Calibri"/>
                        </a:rPr>
                        <a:t>+66 Defective Dies Caught (Same Budget)</a:t>
                      </a:r>
                    </a:p>
                  </a:txBody>
                  <a:tcPr marL="73152" marR="73152" marT="45720" marB="45720">
                    <a:solidFill>
                      <a:srgbClr val="18212F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731520" y="4754880"/>
            <a:ext cx="7315200" cy="1554480"/>
          </a:xfrm>
          <a:prstGeom prst="roundRect">
            <a:avLst/>
          </a:prstGeom>
          <a:solidFill>
            <a:srgbClr val="1E293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164592" rIns="164592" bIns="164592"/>
          <a:lstStyle/>
          <a:p>
            <a:pPr algn="ctr">
              <a:spcAft>
                <a:spcPts val="300"/>
              </a:spcAft>
            </a:pPr>
            <a:r>
              <a:rPr sz="950" b="1">
                <a:solidFill>
                  <a:srgbClr val="F59E0B"/>
                </a:solidFill>
                <a:latin typeface="Calibri"/>
              </a:rPr>
              <a:t>KEY SCIENTIFIC FINDING: MARGINAL DEFECT DISTRIBUTION OVERLAP</a:t>
            </a:r>
          </a:p>
          <a:p>
            <a:r>
              <a:rPr sz="950">
                <a:solidFill>
                  <a:srgbClr val="CBD5E1"/>
                </a:solidFill>
                <a:latin typeface="Calibri"/>
              </a:rPr>
              <a:t>- Model B is NOT a binary F1 boundary improver. It is sold as improving continuous probability ranking and screening efficiency.
- Sub-die block telemetry provides continuous gradient signal that significantly improves ranking (PR-AUC +0.0337, bootstrap CI &gt; 0).
- Fail F1 remains essentially unchanged (+0.0015, 95% wafer-cluster bootstrap CI [-0.008, +0.012] crosses zero).
- Empirical Finding: A large fraction of failures (65% in this semi-synthetic design) are marginal and overlap healthy electrical distributions, making binary classification difficult; observed F1 remains around 0.52.</a:t>
            </a:r>
          </a:p>
        </p:txBody>
      </p:sp>
      <p:pic>
        <p:nvPicPr>
          <p:cNvPr id="6" name="Picture 5" descr="shap_summary_model_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1040" y="1645920"/>
            <a:ext cx="3136392" cy="466344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solidFill>
              <a:srgbClr val="0B11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000" b="1">
                <a:solidFill>
                  <a:srgbClr val="38BDF8"/>
                </a:solidFill>
                <a:latin typeface="Calibri"/>
              </a:rPr>
              <a:t>INTERPRETABILITY &amp; VISUAL DESIGN</a:t>
            </a:r>
          </a:p>
          <a:p>
            <a:pPr>
              <a:spcAft>
                <a:spcPts val="200"/>
              </a:spcAft>
            </a:pPr>
            <a:r>
              <a:rPr sz="2200" b="1">
                <a:solidFill>
                  <a:srgbClr val="F8FAFC"/>
                </a:solidFill>
                <a:latin typeface="Calibri"/>
              </a:rPr>
              <a:t>Hierarchical Interpretability: Wafer Risk Surfaces -&gt; Sub-Die Evidence</a:t>
            </a:r>
          </a:p>
          <a:p>
            <a:r>
              <a:rPr sz="1200">
                <a:solidFill>
                  <a:srgbClr val="94A3B8"/>
                </a:solidFill>
                <a:latin typeface="Calibri"/>
              </a:rPr>
              <a:t>Gaussian smoothing (sigma=1.5) delineates hazard contours; TreeSHAP isolates actionable signal from spatial context</a:t>
            </a:r>
          </a:p>
        </p:txBody>
      </p:sp>
      <p:pic>
        <p:nvPicPr>
          <p:cNvPr id="4" name="Picture 3" descr="risk_field_wafer_W_F_00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10728655" cy="2148840"/>
          </a:xfrm>
          <a:prstGeom prst="rect">
            <a:avLst/>
          </a:prstGeom>
        </p:spPr>
      </p:pic>
      <p:pic>
        <p:nvPicPr>
          <p:cNvPr id="5" name="Picture 4" descr="wafer_W_F_0014_model_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3886200"/>
            <a:ext cx="10728655" cy="137160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31520" y="5394960"/>
            <a:ext cx="10728655" cy="1051560"/>
          </a:xfrm>
          <a:prstGeom prst="roundRect">
            <a:avLst/>
          </a:prstGeom>
          <a:solidFill>
            <a:srgbClr val="1E293B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37160" rIns="137160" bIns="137160"/>
          <a:lstStyle/>
          <a:p>
            <a:pPr algn="ctr">
              <a:spcAft>
                <a:spcPts val="200"/>
              </a:spcAft>
            </a:pPr>
            <a:r>
              <a:rPr sz="950" b="1">
                <a:solidFill>
                  <a:srgbClr val="38BDF8"/>
                </a:solidFill>
                <a:latin typeface="Calibri"/>
              </a:rPr>
              <a:t>WHAT THE LIVE INTERACTIVE DASHBOARD REVEALS (BEYOND STATIC SLIDES):</a:t>
            </a:r>
          </a:p>
          <a:p>
            <a:r>
              <a:rPr sz="900">
                <a:solidFill>
                  <a:srgbClr val="CBD5E1"/>
                </a:solidFill>
                <a:latin typeface="Calibri"/>
              </a:rPr>
              <a:t>- Multi-Resolution Die Inspection: Preset W_N_0066 die (2,13) where Model A raw score is 12.9% PASS (calibrated: 4.5%), but Model B raw score is 62.9% FAIL (calibrated: 45.2%) due to sub-die block variance.
- Context vs Actionable Signal: 'Spatial features provide context, not an intervention.' Actionable signal lies in die parametric &amp; sub-die block readings.
- 4 HDBSCAN Failure Signatures: Memory Array Reading Shift, Extreme Block Anomaly, Defect Neighborhood Proximity, Edge Drift.
- 2,000-Point Sub-Die Block Strips: In-depth inspection of sub-die memory array voltage profiles using robust MAD anomaly highlighting.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solidFill>
              <a:srgbClr val="0B11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000" b="1">
                <a:solidFill>
                  <a:srgbClr val="38BDF8"/>
                </a:solidFill>
                <a:latin typeface="Calibri"/>
              </a:rPr>
              <a:t>OPERATIONAL TRIAGE, CALIBRATION &amp; FAB ECONOMICS</a:t>
            </a:r>
          </a:p>
          <a:p>
            <a:pPr>
              <a:spcAft>
                <a:spcPts val="200"/>
              </a:spcAft>
            </a:pPr>
            <a:r>
              <a:rPr sz="2200" b="1">
                <a:solidFill>
                  <a:srgbClr val="F8FAFC"/>
                </a:solidFill>
                <a:latin typeface="Calibri"/>
              </a:rPr>
              <a:t>Operational Triage &amp; Reliability: Screening Efficiency + Platt Calibration</a:t>
            </a:r>
          </a:p>
          <a:p>
            <a:r>
              <a:rPr sz="1200">
                <a:solidFill>
                  <a:srgbClr val="94A3B8"/>
                </a:solidFill>
                <a:latin typeface="Calibri"/>
              </a:rPr>
              <a:t>Optimized for volume semiconductor manufacturing: bounded screening triage, calibrated risk, zero blind scrap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230368" cy="219456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tIns="201168" rIns="201168" bIns="201168"/>
          <a:lstStyle/>
          <a:p>
            <a:pPr algn="ctr">
              <a:spcAft>
                <a:spcPts val="200"/>
              </a:spcAft>
            </a:pPr>
            <a:r>
              <a:rPr sz="950" b="1">
                <a:solidFill>
                  <a:srgbClr val="38BDF8"/>
                </a:solidFill>
                <a:latin typeface="Calibri"/>
              </a:rPr>
              <a:t>OPERATIONAL SCREENING TRIAGE</a:t>
            </a:r>
          </a:p>
          <a:p>
            <a:pPr>
              <a:spcAft>
                <a:spcPts val="600"/>
              </a:spcAft>
            </a:pPr>
            <a:r>
              <a:rPr sz="2000" b="1">
                <a:solidFill>
                  <a:srgbClr val="F8FAFC"/>
                </a:solidFill>
                <a:latin typeface="Calibri"/>
              </a:rPr>
              <a:t>+66 Failures Caught at 10% Budget</a:t>
            </a:r>
          </a:p>
          <a:p>
            <a:r>
              <a:rPr sz="1000">
                <a:solidFill>
                  <a:srgbClr val="CBD5E1"/>
                </a:solidFill>
                <a:latin typeface="Calibri"/>
              </a:rPr>
              <a:t>- At the same 10% inspection budget (3,260 dies inspected): Model A catches 55.7% (768 fails) vs. Model B catches 60.4% (834 fails).
- Captures 66 more failures without increasing the inspection budget, maximizing factory throughput.
- Top 2% triage: 38.1% (A) vs 38.8% (B); Top 5% triage: 46.2% (A) vs 49.7% (B).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27064" y="1645920"/>
            <a:ext cx="5230368" cy="219456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tIns="201168" rIns="201168" bIns="201168"/>
          <a:lstStyle/>
          <a:p>
            <a:pPr algn="ctr">
              <a:spcAft>
                <a:spcPts val="200"/>
              </a:spcAft>
            </a:pPr>
            <a:r>
              <a:rPr sz="950" b="1">
                <a:solidFill>
                  <a:srgbClr val="22C55E"/>
                </a:solidFill>
                <a:latin typeface="Calibri"/>
              </a:rPr>
              <a:t>PROBABILITY CALIBRATION (PLATT SCALING)</a:t>
            </a:r>
          </a:p>
          <a:p>
            <a:pPr>
              <a:spcAft>
                <a:spcPts val="600"/>
              </a:spcAft>
            </a:pPr>
            <a:r>
              <a:rPr sz="2000" b="1">
                <a:solidFill>
                  <a:srgbClr val="F8FAFC"/>
                </a:solidFill>
                <a:latin typeface="Calibri"/>
              </a:rPr>
              <a:t>&gt; 70% Calibration Error Reduction</a:t>
            </a:r>
          </a:p>
          <a:p>
            <a:r>
              <a:rPr sz="1000">
                <a:solidFill>
                  <a:srgbClr val="CBD5E1"/>
                </a:solidFill>
                <a:latin typeface="Calibri"/>
              </a:rPr>
              <a:t>- Fitted strictly on 5 validation folds (zero test data leakage); evaluated on 32,598 held-out test dies.
- Model A ECE: 0.0336 -&gt; 0.0084 (-74.9%); Model B ECE: 0.0293 -&gt; 0.0085 (-71.0%).
- Monotonic mapping perfectly preserves ranking &amp; PR-AUC while providing reliable true defect probabilities.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4114800"/>
            <a:ext cx="5230368" cy="219456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tIns="201168" rIns="201168" bIns="201168"/>
          <a:lstStyle/>
          <a:p>
            <a:pPr algn="ctr">
              <a:spcAft>
                <a:spcPts val="200"/>
              </a:spcAft>
            </a:pPr>
            <a:r>
              <a:rPr sz="950" b="1">
                <a:solidFill>
                  <a:srgbClr val="F59E0B"/>
                </a:solidFill>
                <a:latin typeface="Calibri"/>
              </a:rPr>
              <a:t>SCRAP-PRESERVING HIGH PRECISION</a:t>
            </a:r>
          </a:p>
          <a:p>
            <a:pPr>
              <a:spcAft>
                <a:spcPts val="600"/>
              </a:spcAft>
            </a:pPr>
            <a:r>
              <a:rPr sz="2000" b="1">
                <a:solidFill>
                  <a:srgbClr val="F8FAFC"/>
                </a:solidFill>
                <a:latin typeface="Calibri"/>
              </a:rPr>
              <a:t>88.12% Precision / &lt; 0.22% False Alarms</a:t>
            </a:r>
          </a:p>
          <a:p>
            <a:r>
              <a:rPr sz="1000">
                <a:solidFill>
                  <a:srgbClr val="CBD5E1"/>
                </a:solidFill>
                <a:latin typeface="Calibri"/>
              </a:rPr>
              <a:t>- Only 69 false alarms out of 31,218 healthy dies across 40 test wafers (99.78% pass specificity; Model A: 15 FP).
- Deliberate engineering setting: scale_pos_weight = 12.0 prevents violent gradient instability.
- Never over-scraps expensive, functional silicon dies, preserving crucial semiconductor fab margins.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27064" y="4114800"/>
            <a:ext cx="5230368" cy="219456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tIns="201168" rIns="201168" bIns="201168"/>
          <a:lstStyle/>
          <a:p>
            <a:pPr algn="ctr">
              <a:spcAft>
                <a:spcPts val="200"/>
              </a:spcAft>
            </a:pPr>
            <a:r>
              <a:rPr sz="950" b="1">
                <a:solidFill>
                  <a:srgbClr val="38BDF8"/>
                </a:solidFill>
                <a:latin typeface="Calibri"/>
              </a:rPr>
              <a:t>IN-LINE FACTORY DEPLOYABILITY</a:t>
            </a:r>
          </a:p>
          <a:p>
            <a:pPr>
              <a:spcAft>
                <a:spcPts val="600"/>
              </a:spcAft>
            </a:pPr>
            <a:r>
              <a:rPr sz="2000" b="1">
                <a:solidFill>
                  <a:srgbClr val="F8FAFC"/>
                </a:solidFill>
                <a:latin typeface="Calibri"/>
              </a:rPr>
              <a:t>&lt; 0.8s Inference per 40-Wafer Lot</a:t>
            </a:r>
          </a:p>
          <a:p>
            <a:r>
              <a:rPr sz="1000">
                <a:solidFill>
                  <a:srgbClr val="CBD5E1"/>
                </a:solidFill>
                <a:latin typeface="Calibri"/>
              </a:rPr>
              <a:t>- All 39,351 dies scored in under 0.8 seconds on a single CPU thread without GPU infrastructure.
- Fits directly into automated test equipment (ATE) probe card software without adding cycle time.
- Modular src/ library with automated index alignment assertions prevents silent data slicing errors.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solidFill>
              <a:srgbClr val="0B11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000" b="1">
                <a:solidFill>
                  <a:srgbClr val="38BDF8"/>
                </a:solidFill>
                <a:latin typeface="Calibri"/>
              </a:rPr>
              <a:t>LIMITATIONS &amp; INTERACTIVE LINKS</a:t>
            </a:r>
          </a:p>
          <a:p>
            <a:pPr>
              <a:spcAft>
                <a:spcPts val="200"/>
              </a:spcAft>
            </a:pPr>
            <a:r>
              <a:rPr sz="2200" b="1">
                <a:solidFill>
                  <a:srgbClr val="F8FAFC"/>
                </a:solidFill>
                <a:latin typeface="Calibri"/>
              </a:rPr>
              <a:t>Technical Limitations, Real-Fab Horizons &amp; Interactive Demo</a:t>
            </a:r>
          </a:p>
          <a:p>
            <a:r>
              <a:rPr sz="1200">
                <a:solidFill>
                  <a:srgbClr val="94A3B8"/>
                </a:solidFill>
                <a:latin typeface="Calibri"/>
              </a:rPr>
              <a:t>Transparent boundary conditions, reproducible open-source code, and live cloud deployment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48056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28600" rIns="228600" bIns="228600"/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59E0B"/>
                </a:solidFill>
                <a:latin typeface="Calibri"/>
              </a:rPr>
              <a:t>HONEST TECHNICAL AUDIT &amp; BOUNDARIES</a:t>
            </a:r>
          </a:p>
          <a:p>
            <a:pPr>
              <a:spcAft>
                <a:spcPts val="1200"/>
              </a:spcAft>
            </a:pPr>
            <a:r>
              <a:rPr sz="1500" b="1">
                <a:solidFill>
                  <a:srgbClr val="F8FAFC"/>
                </a:solidFill>
                <a:latin typeface="Calibri"/>
              </a:rPr>
              <a:t>Engineering Limitations &amp; Next Steps</a:t>
            </a:r>
          </a:p>
          <a:p>
            <a:pPr>
              <a:spcAft>
                <a:spcPts val="1000"/>
              </a:spcAft>
            </a:pPr>
            <a:r>
              <a:rPr b="1" sz="1000">
                <a:solidFill>
                  <a:srgbClr val="38BDF8"/>
                </a:solidFill>
                <a:latin typeface="Calibri"/>
              </a:rPr>
              <a:t>1. Semi-Synthetic Benchmark: </a:t>
            </a:r>
            <a:r>
              <a:rPr sz="950">
                <a:solidFill>
                  <a:srgbClr val="CBD5E1"/>
                </a:solidFill>
                <a:latin typeface="Calibri"/>
              </a:rPr>
              <a:t>Built on real WM-811K wafer geometries with synthetic sensor and block telemetry. Validating on real fab telemetry is the natural next milestone; no claim of immediate production readiness.</a:t>
            </a:r>
          </a:p>
          <a:p>
            <a:pPr>
              <a:spcAft>
                <a:spcPts val="1000"/>
              </a:spcAft>
            </a:pPr>
            <a:r>
              <a:rPr b="1" sz="1000">
                <a:solidFill>
                  <a:srgbClr val="38BDF8"/>
                </a:solidFill>
                <a:latin typeface="Calibri"/>
              </a:rPr>
              <a:t>2. Marginal Defect Distribution Overlap: </a:t>
            </a:r>
            <a:r>
              <a:rPr sz="950">
                <a:solidFill>
                  <a:srgbClr val="CBD5E1"/>
                </a:solidFill>
                <a:latin typeface="Calibri"/>
              </a:rPr>
              <a:t>A large fraction of failures (65% in this semi-synthetic design) are marginal and overlap healthy electrical distributions, making binary classification difficult; observed F1 remains around 0.52 without physical 3D block coordinates.</a:t>
            </a:r>
          </a:p>
          <a:p>
            <a:pPr>
              <a:spcAft>
                <a:spcPts val="1000"/>
              </a:spcAft>
            </a:pPr>
            <a:r>
              <a:rPr b="1" sz="1000">
                <a:solidFill>
                  <a:srgbClr val="38BDF8"/>
                </a:solidFill>
                <a:latin typeface="Calibri"/>
              </a:rPr>
              <a:t>3. Spatial Context is Non-Interventionist: </a:t>
            </a:r>
            <a:r>
              <a:rPr sz="950">
                <a:solidFill>
                  <a:srgbClr val="CBD5E1"/>
                </a:solidFill>
                <a:latin typeface="Calibri"/>
              </a:rPr>
              <a:t>Spatial features provide context, not an intervention. Spatial clustering guides inspection prioritization, but physical fab actions require process parameter changes.</a:t>
            </a:r>
          </a:p>
          <a:p>
            <a:pPr>
              <a:spcAft>
                <a:spcPts val="1000"/>
              </a:spcAft>
            </a:pPr>
            <a:r>
              <a:rPr b="1" sz="1000">
                <a:solidFill>
                  <a:srgbClr val="38BDF8"/>
                </a:solidFill>
                <a:latin typeface="Calibri"/>
              </a:rPr>
              <a:t>4. Inert 1D Block Telemetry: </a:t>
            </a:r>
            <a:r>
              <a:rPr sz="950">
                <a:solidFill>
                  <a:srgbClr val="CBD5E1"/>
                </a:solidFill>
                <a:latin typeface="Calibri"/>
              </a:rPr>
              <a:t>Block readings were provided as 1D scalar streams (0..1999); preserving exact 3D physical (x, y, z) memory array coordinates would enable 3D CNNs to capture spatial word-line leakage.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26480" y="1645920"/>
            <a:ext cx="5333695" cy="2011680"/>
          </a:xfrm>
          <a:prstGeom prst="roundRect">
            <a:avLst/>
          </a:prstGeom>
          <a:solidFill>
            <a:srgbClr val="1E293B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 rIns="182880" bIns="182880"/>
          <a:lstStyle/>
          <a:p>
            <a:pPr algn="ctr">
              <a:spcAft>
                <a:spcPts val="200"/>
              </a:spcAft>
            </a:pPr>
            <a:r>
              <a:rPr sz="950" b="1">
                <a:solidFill>
                  <a:srgbClr val="38BDF8"/>
                </a:solidFill>
                <a:latin typeface="Calibri"/>
              </a:rPr>
              <a:t>LIVE CLOUD DEPLOYMENT</a:t>
            </a:r>
          </a:p>
          <a:p>
            <a:pPr>
              <a:spcAft>
                <a:spcPts val="400"/>
              </a:spcAft>
            </a:pPr>
            <a:r>
              <a:rPr sz="1500" b="1">
                <a:solidFill>
                  <a:srgbClr val="F8FAFC"/>
                </a:solidFill>
                <a:latin typeface="Calibri"/>
              </a:rPr>
              <a:t>Streamlit Interactive Web Application</a:t>
            </a:r>
          </a:p>
          <a:p>
            <a:pPr>
              <a:spcAft>
                <a:spcPts val="800"/>
              </a:spcAft>
            </a:pPr>
            <a:r>
              <a:rPr sz="950">
                <a:solidFill>
                  <a:srgbClr val="CBD5E1"/>
                </a:solidFill>
                <a:latin typeface="Calibri"/>
              </a:rPr>
              <a:t>Explore 40 test wafers, continuous risk fields, per-die SHAP breakdowns, and sub-die block profiles in real time.</a:t>
            </a:r>
          </a:p>
          <a:p>
            <a:r>
              <a:rPr sz="1200" b="1">
                <a:solidFill>
                  <a:srgbClr val="38BDF8"/>
                </a:solidFill>
                <a:latin typeface="Calibri"/>
                <a:hlinkClick r:id="rId2"/>
              </a:rPr>
              <a:t>https://die-yield-prediction.streamlit.app/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0" y="3840480"/>
            <a:ext cx="5333695" cy="1371600"/>
          </a:xfrm>
          <a:prstGeom prst="roundRect">
            <a:avLst/>
          </a:prstGeom>
          <a:solidFill>
            <a:srgbClr val="1E293B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 rIns="182880" bIns="182880"/>
          <a:lstStyle/>
          <a:p>
            <a:pPr algn="ctr">
              <a:spcAft>
                <a:spcPts val="200"/>
              </a:spcAft>
            </a:pPr>
            <a:r>
              <a:rPr sz="950" b="1">
                <a:solidFill>
                  <a:srgbClr val="22C55E"/>
                </a:solidFill>
                <a:latin typeface="Calibri"/>
              </a:rPr>
              <a:t>OPEN-SOURCE CODEBASE &amp; PIPELINE</a:t>
            </a:r>
          </a:p>
          <a:p>
            <a:pPr>
              <a:spcAft>
                <a:spcPts val="400"/>
              </a:spcAft>
            </a:pPr>
            <a:r>
              <a:rPr sz="1400" b="1">
                <a:solidFill>
                  <a:srgbClr val="F8FAFC"/>
                </a:solidFill>
                <a:latin typeface="Calibri"/>
              </a:rPr>
              <a:t>GitHub Repository: AdityaG346/Sandisk</a:t>
            </a:r>
          </a:p>
          <a:p>
            <a:r>
              <a:rPr sz="1150" b="1">
                <a:solidFill>
                  <a:srgbClr val="22C55E"/>
                </a:solidFill>
                <a:latin typeface="Calibri"/>
                <a:hlinkClick r:id="rId3"/>
              </a:rPr>
              <a:t>https://github.com/AdityaG346/Sandisk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5394960"/>
            <a:ext cx="5333695" cy="731520"/>
          </a:xfrm>
          <a:prstGeom prst="roundRect">
            <a:avLst/>
          </a:prstGeom>
          <a:solidFill>
            <a:srgbClr val="0F172A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109728" rIns="109728" bIns="109728"/>
          <a:lstStyle/>
          <a:p>
            <a:pPr algn="ctr"/>
            <a:r>
              <a:rPr sz="1050" b="1">
                <a:solidFill>
                  <a:srgbClr val="F59E0B"/>
                </a:solidFill>
                <a:latin typeface="Calibri"/>
              </a:rPr>
              <a:t>Team Cookies of the Dark Web | SanDisk Cerebrum 2026
Thank you! Handing over to Speaker 4 for the Live Demo.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